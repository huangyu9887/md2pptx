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228600" dist="50800" dir="8100000">
              <a:srgbClr val="8B7355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914400"/>
            <a:ext cx="109728" cy="320040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Text 2"/>
          <p:cNvSpPr/>
          <p:nvPr/>
        </p:nvSpPr>
        <p:spPr>
          <a:xfrm>
            <a:off x="1572768" y="11887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Smartphone Camera Technology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572768" y="2542032"/>
            <a:ext cx="5029200" cy="18288"/>
          </a:xfrm>
          <a:prstGeom prst="rect">
            <a:avLst/>
          </a:prstGeom>
          <a:solidFill>
            <a:srgbClr val="E8DDD8"/>
          </a:solidFill>
          <a:ln/>
        </p:spPr>
      </p:sp>
      <p:sp>
        <p:nvSpPr>
          <p:cNvPr id="6" name="Text 4"/>
          <p:cNvSpPr/>
          <p:nvPr/>
        </p:nvSpPr>
        <p:spPr>
          <a:xfrm>
            <a:off x="1572768" y="263347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guide for product &amp; marketing teams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C8745E">
              <a:alpha val="40000"/>
            </a:srgbClr>
          </a:solidFill>
          <a:ln w="12700">
            <a:solidFill>
              <a:srgbClr val="C874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A8543E">
              <a:alpha val="30000"/>
            </a:srgbClr>
          </a:solidFill>
          <a:ln w="12700">
            <a:solidFill>
              <a:srgbClr val="A85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1: Camera Fundamentals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Camera Module?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optical system packed into millimeters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sensor, lens, autofocus, OIS, and IR filter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stacked layers from lens to circuit board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capability but also Z-height cost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Five-Layer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assembly — focuses light onto the sensor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IRCF (IR cut filter) — blocks infrared light for accurate color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sensor — converts photons into electrical signals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VCM actuator — drives autofocus movement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685032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300984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PCB — carries data and power to the main 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Sensor Specs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size: larger pixels capture more light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format: bigger sensor = better low-light but more space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megapixels matter less than pixel quality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vs stacked architecture trade-offs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Autofocus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2D2420"/>
          </a:solidFill>
          <a:ln/>
          <a:effectLst>
            <a:outerShdw sx="100000" sy="100000" kx="0" ky="0" algn="bl" rotWithShape="0" blurRad="152400" dist="38100" dir="8100000">
              <a:srgbClr val="8B735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C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  Speed    Cost   Thickness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PDAF         Fast     Low    Thin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Laser ToF    Medium   High  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C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DW-PDAF      Fastest  High   Thin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C8745E">
              <a:alpha val="40000"/>
            </a:srgbClr>
          </a:solidFill>
          <a:ln w="12700">
            <a:solidFill>
              <a:srgbClr val="C874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A8543E">
              <a:alpha val="30000"/>
            </a:srgbClr>
          </a:solidFill>
          <a:ln w="12700">
            <a:solidFill>
              <a:srgbClr val="A85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2: Physical Constraints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Z-Height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millimeter of thickness is a design battle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mechanism alone adds ~0.3 mm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sensors require longer focal length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design folds the optics sideways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OIS vs Thinness Trade-off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requires mechanical float — uses space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OIS, night shots blur from hand movement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Sensor-shift OIS moves sensor, not lens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depends on target use case and price tier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Periscope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bends light 90° inside the module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5–10× optical zoom in a thin body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footprint trades off against Z savings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phones only — high cost and complexity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C8745E">
              <a:alpha val="40000"/>
            </a:srgbClr>
          </a:solidFill>
          <a:ln w="12700">
            <a:solidFill>
              <a:srgbClr val="C874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A8543E">
              <a:alpha val="30000"/>
            </a:srgbClr>
          </a:solidFill>
          <a:ln w="12700">
            <a:solidFill>
              <a:srgbClr val="A85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3: Multi-Camera Systems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Multiple Cameras?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lens can't do wide + zoom + portrait simultaneously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focal length needs its own optical system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stitches views during capture and zoom transitions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coordinates exposure across all sensors in real time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Roles in a Typical Flagship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Ultra-wide (13–16 mm): architecture, landscapes, selfies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3752" y="1527048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143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(24–28 mm): everyday shooting, best IQ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8B73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606040"/>
            <a:ext cx="146304" cy="146304"/>
          </a:xfrm>
          <a:prstGeom prst="ellipse">
            <a:avLst/>
          </a:prstGeom>
          <a:solidFill>
            <a:srgbClr val="7A9E87"/>
          </a:solidFill>
          <a:ln w="12700">
            <a:solidFill>
              <a:srgbClr val="7A9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21992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tele (65–120 mm): portraits, reach, compression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8"/>
            </a:solidFill>
            <a:prstDash val="solid"/>
          </a:ln>
          <a:effectLst>
            <a:outerShdw sx="100000" sy="100000" kx="0" ky="0" algn="bl" rotWithShape="0" blurRad="228600" dist="50800" dir="8100000">
              <a:srgbClr val="8B7355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914400"/>
            <a:ext cx="109728" cy="3200400"/>
          </a:xfrm>
          <a:prstGeom prst="rect">
            <a:avLst/>
          </a:prstGeom>
          <a:solidFill>
            <a:srgbClr val="C0634B"/>
          </a:solidFill>
          <a:ln/>
        </p:spPr>
      </p:sp>
      <p:sp>
        <p:nvSpPr>
          <p:cNvPr id="4" name="Text 2"/>
          <p:cNvSpPr/>
          <p:nvPr/>
        </p:nvSpPr>
        <p:spPr>
          <a:xfrm>
            <a:off x="1572768" y="11887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572768" y="2542032"/>
            <a:ext cx="5029200" cy="18288"/>
          </a:xfrm>
          <a:prstGeom prst="rect">
            <a:avLst/>
          </a:prstGeom>
          <a:solidFill>
            <a:srgbClr val="E8DDD8"/>
          </a:solidFill>
          <a:ln/>
        </p:spPr>
      </p:sp>
      <p:sp>
        <p:nvSpPr>
          <p:cNvPr id="6" name="Text 4"/>
          <p:cNvSpPr/>
          <p:nvPr/>
        </p:nvSpPr>
        <p:spPr>
          <a:xfrm>
            <a:off x="1572768" y="263347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product team.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2026-04-26T01:56:51Z</dcterms:created>
  <dcterms:modified xsi:type="dcterms:W3CDTF">2026-04-26T01:56:51Z</dcterms:modified>
</cp:coreProperties>
</file>